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araoh_cover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DE5814"/>
                </a:solidFill>
                <a:latin typeface="PingFang TC"/>
              </a:rPr>
              <a:t>八旬失智配偶法律防禦
與權益最大化戰略報告書
</a:t>
            </a:r>
          </a:p>
          <a:p>
            <a:pPr>
              <a:spcBef>
                <a:spcPts val="800"/>
              </a:spcBef>
            </a:pPr>
            <a:r>
              <a:rPr sz="1350" b="1">
                <a:solidFill>
                  <a:srgbClr val="A83212"/>
                </a:solidFill>
                <a:latin typeface="PingFang TC"/>
              </a:rPr>
              <a:t>阻斷廖光輝惡意脫產・向第三者湛明輝追討資產・監護宣告・夫妻剩餘財產清算全攻略
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D97706"/>
                </a:solidFill>
                <a:latin typeface="PingFang TC"/>
              </a:rPr>
              <a:t>報告人：Howard Liao Ph.D.(廖倫豪 博士)
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D3748"/>
                </a:solidFill>
                <a:latin typeface="PingFang TC"/>
              </a:rPr>
              <a:t>當事人：雙方均為民國38年次（結縭近五十年） ｜ 日期：2026年9月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3212"/>
                </a:solidFill>
                <a:latin typeface="PingFang TC"/>
              </a:rPr>
              <a:t>【戰略分析】 </a:t>
            </a:r>
            <a:r>
              <a:rPr sz="2400" b="1">
                <a:solidFill>
                  <a:srgbClr val="DE5814"/>
                </a:solidFill>
                <a:latin typeface="PingFang TC"/>
              </a:rPr>
              <a:t>說明篇：三十八年次長輩半世紀婚姻與法律優勢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C96A5"/>
                </a:solidFill>
                <a:latin typeface="PingFang TC"/>
              </a:rPr>
              <a:t>八旬失智配偶法律防禦與權益最大化戰略報告 ｜ 報告人：Howard Liao Ph.D.(廖倫豪 博士)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BEB"/>
          </a:solidFill>
          <a:ln>
            <a:solidFill>
              <a:srgbClr val="A83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b="1" sz="1600">
                <a:solidFill>
                  <a:srgbClr val="A83212"/>
                </a:solidFill>
              </a:rPr>
              <a:t>一、法官心證：絕對不准廖光輝逼離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D97706"/>
                </a:solidFill>
              </a:rPr>
              <a:t>★ 金婚五十年：
</a:t>
            </a:r>
            <a:r>
              <a:rPr sz="1050">
                <a:solidFill>
                  <a:srgbClr val="2D3748"/>
                </a:solidFill>
              </a:rPr>
              <a:t>結縭近半世紀，母親陪同白手起家操勞一生，病中遭拋棄情節重大。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D97706"/>
                </a:solidFill>
              </a:rPr>
              <a:t>★ 民法1052但書鐵壁：
</a:t>
            </a:r>
            <a:r>
              <a:rPr sz="1050">
                <a:solidFill>
                  <a:srgbClr val="2D3748"/>
                </a:solidFill>
              </a:rPr>
              <a:t>廖光輝外遇湛明輝為破壞婚姻唯一過失方，法律明定無權強逼病妻判決離婚。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D97706"/>
                </a:solidFill>
              </a:rPr>
              <a:t>★ 遺產繼承權最大利益：
</a:t>
            </a:r>
            <a:r>
              <a:rPr sz="1050">
                <a:solidFill>
                  <a:srgbClr val="2D3748"/>
                </a:solidFill>
              </a:rPr>
              <a:t>策略A堅決不同意離婚，母親死守第一順位繼承權；百年後先分一半再繼承，小三湛明輝一毛分不到！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FFBEB"/>
          </a:solidFill>
          <a:ln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b="1" sz="1600">
                <a:solidFill>
                  <a:srgbClr val="DE5814"/>
                </a:solidFill>
              </a:rPr>
              <a:t>二、財產黃金期：100% 全為婚後財產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D97706"/>
                </a:solidFill>
              </a:rPr>
              <a:t>★ 全落在民法74年後：
</a:t>
            </a:r>
            <a:r>
              <a:rPr sz="1050">
                <a:solidFill>
                  <a:srgbClr val="2D3748"/>
                </a:solidFill>
              </a:rPr>
              <a:t>置產買房、股票存款全在婚姻存續期間取得，無婚前財產可扣除，母親穩拿差額50%。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D97706"/>
                </a:solidFill>
              </a:rPr>
              <a:t>★ 民法1030-3追加追討：
</a:t>
            </a:r>
            <a:r>
              <a:rPr sz="1050">
                <a:solidFill>
                  <a:srgbClr val="2D3748"/>
                </a:solidFill>
              </a:rPr>
              <a:t>廖光輝過去5年內贈與、買房給湛明輝之資產，法律全數追加算回廖光輝資產總額！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D97706"/>
                </a:solidFill>
              </a:rPr>
              <a:t>★ 判命湛明輝代為返還：
</a:t>
            </a:r>
            <a:r>
              <a:rPr sz="1050">
                <a:solidFill>
                  <a:srgbClr val="2D3748"/>
                </a:solidFill>
              </a:rPr>
              <a:t>若廖光輝名下被掏空，法院依法直接判命受領人湛明輝將現金吐出來還給母親！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3212"/>
                </a:solidFill>
                <a:latin typeface="PingFang TC"/>
              </a:rPr>
              <a:t>【司法程序】 </a:t>
            </a:r>
            <a:r>
              <a:rPr sz="2400" b="1">
                <a:solidFill>
                  <a:srgbClr val="DE5814"/>
                </a:solidFill>
                <a:latin typeface="PingFang TC"/>
              </a:rPr>
              <a:t>程序篇：法院訴訟與財產保全三大法定程序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C96A5"/>
                </a:solidFill>
                <a:latin typeface="PingFang TC"/>
              </a:rPr>
              <a:t>八旬失智配偶法律防禦與權益最大化戰略報告 ｜ 報告人：Howard Liao Ph.D.(廖倫豪 博士)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DE5814"/>
                </a:solidFill>
              </a:rPr>
              <a:t>程序一：家事法院【監護宣告】
</a:t>
            </a:r>
          </a:p>
          <a:p>
            <a:r>
              <a:rPr sz="1100">
                <a:solidFill>
                  <a:srgbClr val="2D3748"/>
                </a:solidFill>
              </a:rPr>
              <a:t>檢附榮總診斷書，由子女聲請監護宣告並出任法定代理人。徹底阻斷廖光輝誘騙母親私下簽署離婚或過戶切結書；未來所有訴訟由監護人代理。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28655" cy="1371600"/>
          </a:xfrm>
          <a:prstGeom prst="round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DE5814"/>
                </a:solidFill>
              </a:rPr>
              <a:t>程序二：防範洗錢【假扣押與暫時處分】
</a:t>
            </a:r>
          </a:p>
          <a:p>
            <a:r>
              <a:rPr sz="1100">
                <a:solidFill>
                  <a:srgbClr val="2D3748"/>
                </a:solidFill>
              </a:rPr>
              <a:t>聲請法院裁定查封廖光輝與湛明輝名下不動產與銀行帳戶，防範轉賣套現；同步裁定命廖光輝按月給付外籍看護月薪與醫療長照生活費。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728655" cy="1371600"/>
          </a:xfrm>
          <a:prstGeom prst="round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DE5814"/>
                </a:solidFill>
              </a:rPr>
              <a:t>程序三：實體裁判【反擊清算訴訟】
</a:t>
            </a:r>
          </a:p>
          <a:p>
            <a:r>
              <a:rPr sz="1100">
                <a:solidFill>
                  <a:srgbClr val="2D3748"/>
                </a:solidFill>
              </a:rPr>
              <a:t>在家事法庭開庭時以民法1052條但書駁回離婚之訴；同步提起剩餘財產清算、追討湛明輝名下資產，並連帶求償侵害配偶權精神撫慰金。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3212"/>
                </a:solidFill>
                <a:latin typeface="PingFang TC"/>
              </a:rPr>
              <a:t>【實體求償】 </a:t>
            </a:r>
            <a:r>
              <a:rPr sz="2400" b="1">
                <a:solidFill>
                  <a:srgbClr val="DE5814"/>
                </a:solidFill>
                <a:latin typeface="PingFang TC"/>
              </a:rPr>
              <a:t>方法篇：爭取權益與賠償金最大化四大實體方法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C96A5"/>
                </a:solidFill>
                <a:latin typeface="PingFang TC"/>
              </a:rPr>
              <a:t>八旬失智配偶法律防禦與權益最大化戰略報告 ｜ 報告人：Howard Liao Ph.D.(廖倫豪 博士)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4023360"/>
                <a:gridCol w="2590495"/>
              </a:tblGrid>
              <a:tr h="93268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A83212"/>
                          </a:solidFill>
                        </a:rPr>
                        <a:t>求償方法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A83212"/>
                          </a:solidFill>
                        </a:rPr>
                        <a:t>民法條文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A83212"/>
                          </a:solidFill>
                        </a:rPr>
                        <a:t>求償內涵與法理策略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A83212"/>
                          </a:solidFill>
                        </a:rPr>
                        <a:t>預估效益與戰略定位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E5814"/>
                          </a:solidFill>
                        </a:rPr>
                        <a:t>一、夫妻剩餘財產分配請求權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D3748"/>
                          </a:solidFill>
                        </a:rPr>
                        <a:t>民法第 1030 條之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D3748"/>
                          </a:solidFill>
                        </a:rPr>
                        <a:t>清查雙方現存婚後財產扣除負債後差額平均分配。五十年婚姻積累之房地產與存款，母親依法享有差額 50% 請求權。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A83212"/>
                          </a:solidFill>
                        </a:rPr>
                        <a:t>【金額最大宗・佔90%以上】
數百萬至數千萬元法定產權，為母親晚年生活最堅實保障。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E5814"/>
                          </a:solidFill>
                        </a:rPr>
                        <a:t>二、追討第三者條款（追加計算）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D3748"/>
                          </a:solidFill>
                        </a:rPr>
                        <a:t>民法第 1030 條之 3
民法第 1020 條之 1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D3748"/>
                          </a:solidFill>
                        </a:rPr>
                        <a:t>起訴前五年內，廖光輝為減少分配無償移轉予湛明輝之資產，全數追加計算為廖光輝現存財產！若不夠返還，法院直接判命「湛明輝代為吐出差額返還母親」！一年內贈與更得直接訴請撤銷。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A83212"/>
                          </a:solidFill>
                        </a:rPr>
                        <a:t>【破解脫產殺手鐧】
搬給湛明輝的現金房產全數追回計入，讓第三者白忙一場。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E5814"/>
                          </a:solidFill>
                        </a:rPr>
                        <a:t>三、侵害配偶權連帶精神撫慰金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D3748"/>
                          </a:solidFill>
                        </a:rPr>
                        <a:t>民法第 184 條
民法第 195 條第 3 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D3748"/>
                          </a:solidFill>
                        </a:rPr>
                        <a:t>共同提告廖光輝與湛明輝為連帶共同被告。舉證兩人同居出入、親暱對話。審酌母親八旬重病遭背叛之重大痛苦，判令兩人連帶賠償。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A83212"/>
                          </a:solidFill>
                        </a:rPr>
                        <a:t>【直擊第三者連帶賠償】
實務判賠金額普遍落於 60 萬 ～ 100 萬元。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E5814"/>
                          </a:solidFill>
                        </a:rPr>
                        <a:t>四、離婚損害賠償與終身贍養費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D3748"/>
                          </a:solidFill>
                        </a:rPr>
                        <a:t>民法第 1056 條
民法第 1057 條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D3748"/>
                          </a:solidFill>
                        </a:rPr>
                        <a:t>判決離婚非財產損害賠償（20萬~80萬）；加計母親八旬失智、無謀生能力，判命廖光輝按月全額給付外籍看護薪資（約3.5萬）與終身照護費，或一次性提撥數百萬贍養基金。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A83212"/>
                          </a:solidFill>
                        </a:rPr>
                        <a:t>【終身全額保障尊嚴】
外籍看護月薪與安養醫療費由男方全額埋單。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3212"/>
                </a:solidFill>
                <a:latin typeface="PingFang TC"/>
              </a:rPr>
              <a:t>【行動步驟】 </a:t>
            </a:r>
            <a:r>
              <a:rPr sz="2400" b="1">
                <a:solidFill>
                  <a:srgbClr val="DE5814"/>
                </a:solidFill>
                <a:latin typeface="PingFang TC"/>
              </a:rPr>
              <a:t>步驟篇：家屬即刻行動指南與實施六大步驟（SOP）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C96A5"/>
                </a:solidFill>
                <a:latin typeface="PingFang TC"/>
              </a:rPr>
              <a:t>八旬失智配偶法律防禦與權益最大化戰略報告 ｜ 報告人：Howard Liao Ph.D.(廖倫豪 博士)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713232"/>
          </a:xfrm>
          <a:prstGeom prst="round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50">
                <a:solidFill>
                  <a:srgbClr val="DE5814"/>
                </a:solidFill>
              </a:rPr>
              <a:t>【步驟 1：公所領表】 </a:t>
            </a:r>
            <a:r>
              <a:rPr sz="1100">
                <a:solidFill>
                  <a:srgbClr val="2D3748"/>
                </a:solidFill>
              </a:rPr>
              <a:t>先至戶籍地區公所領取身心障礙鑑定表（帶照片3張、身分證、印章）。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67712"/>
            <a:ext cx="10728655" cy="713232"/>
          </a:xfrm>
          <a:prstGeom prst="round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50">
                <a:solidFill>
                  <a:srgbClr val="DE5814"/>
                </a:solidFill>
              </a:rPr>
              <a:t>【步驟 2：榮總開診斷書】 </a:t>
            </a:r>
            <a:r>
              <a:rPr sz="1100">
                <a:solidFill>
                  <a:srgbClr val="2D3748"/>
                </a:solidFill>
              </a:rPr>
              <a:t>請醫師開立載明「CDR失智、不能為意思表示、24小時專人看護」之專業診斷書並遞交身障鑑定。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72384"/>
            <a:ext cx="10728655" cy="713232"/>
          </a:xfrm>
          <a:prstGeom prst="round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50">
                <a:solidFill>
                  <a:srgbClr val="DE5814"/>
                </a:solidFill>
              </a:rPr>
              <a:t>【步驟 3：調證查底牌】 </a:t>
            </a:r>
            <a:r>
              <a:rPr sz="1100">
                <a:solidFill>
                  <a:srgbClr val="2D3748"/>
                </a:solidFill>
              </a:rPr>
              <a:t>地政調「異動索引」鎖定過戶給湛明輝鐵證；國稅局查財產總歸戶與近三年所得。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77056"/>
            <a:ext cx="10728655" cy="713232"/>
          </a:xfrm>
          <a:prstGeom prst="round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50">
                <a:solidFill>
                  <a:srgbClr val="DE5814"/>
                </a:solidFill>
              </a:rPr>
              <a:t>【步驟 4：聲請監護宣告】 </a:t>
            </a:r>
            <a:r>
              <a:rPr sz="1100">
                <a:solidFill>
                  <a:srgbClr val="2D3748"/>
                </a:solidFill>
              </a:rPr>
              <a:t>檢附診斷書向家事法院聲請監護宣告，指定子女任法定監護人代理一切法律行為。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81728"/>
            <a:ext cx="10728655" cy="713232"/>
          </a:xfrm>
          <a:prstGeom prst="round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50">
                <a:solidFill>
                  <a:srgbClr val="DE5814"/>
                </a:solidFill>
              </a:rPr>
              <a:t>【步驟 5：聲請假扣押】 </a:t>
            </a:r>
            <a:r>
              <a:rPr sz="1100">
                <a:solidFill>
                  <a:srgbClr val="2D3748"/>
                </a:solidFill>
              </a:rPr>
              <a:t>對廖光輝與湛明輝名下資產聲請假扣押查封，聲請暫時處分命每月支付看護費。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728655" cy="713232"/>
          </a:xfrm>
          <a:prstGeom prst="round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50">
                <a:solidFill>
                  <a:srgbClr val="DE5814"/>
                </a:solidFill>
              </a:rPr>
              <a:t>【步驟 6：實體訴訟反擊】 </a:t>
            </a:r>
            <a:r>
              <a:rPr sz="1100">
                <a:solidFill>
                  <a:srgbClr val="2D3748"/>
                </a:solidFill>
              </a:rPr>
              <a:t>共同起訴兩人侵害配偶權；法庭運用民法1052但書拒離，或反訴1030-3追討財產。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